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实际完成</c:v>
                </c:pt>
              </c:strCache>
            </c:strRef>
          </c:tx>
          <c:spPr>
            <a:solidFill>
              <a:srgbClr val="9B8AB8"/>
            </a:solidFill>
          </c:spPr>
          <c:cat>
            <c:strRef>
              <c:f>Sheet1!$A$2:$A$6</c:f>
              <c:strCache>
                <c:ptCount val="5"/>
                <c:pt idx="0">
                  <c:v>周一</c:v>
                </c:pt>
                <c:pt idx="1">
                  <c:v>周二</c:v>
                </c:pt>
                <c:pt idx="2">
                  <c:v>周三</c:v>
                </c:pt>
                <c:pt idx="3">
                  <c:v>周四</c:v>
                </c:pt>
                <c:pt idx="4">
                  <c:v>周五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15</c:v>
                </c:pt>
                <c:pt idx="2">
                  <c:v>18</c:v>
                </c:pt>
                <c:pt idx="3">
                  <c:v>14</c:v>
                </c:pt>
                <c:pt idx="4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目标</c:v>
                </c:pt>
              </c:strCache>
            </c:strRef>
          </c:tx>
          <c:spPr>
            <a:solidFill>
              <a:srgbClr val="F7D4C4"/>
            </a:solidFill>
          </c:spPr>
          <c:cat>
            <c:strRef>
              <c:f>Sheet1!$A$2:$A$6</c:f>
              <c:strCache>
                <c:ptCount val="5"/>
                <c:pt idx="0">
                  <c:v>周一</c:v>
                </c:pt>
                <c:pt idx="1">
                  <c:v>周二</c:v>
                </c:pt>
                <c:pt idx="2">
                  <c:v>周三</c:v>
                </c:pt>
                <c:pt idx="3">
                  <c:v>周四</c:v>
                </c:pt>
                <c:pt idx="4">
                  <c:v>周五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</c:v>
                </c:pt>
                <c:pt idx="1">
                  <c:v>12</c:v>
                </c:pt>
                <c:pt idx="2">
                  <c:v>15</c:v>
                </c:pt>
                <c:pt idx="3">
                  <c:v>15</c:v>
                </c:pt>
                <c:pt idx="4">
                  <c:v>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数据</c:v>
                </c:pt>
              </c:strCache>
            </c:strRef>
          </c:tx>
          <c:dPt>
            <c:idx val="0"/>
            <c:spPr>
              <a:solidFill>
                <a:srgbClr val="9B8AB8"/>
              </a:solidFill>
            </c:spPr>
          </c:dPt>
          <c:dPt>
            <c:idx val="1"/>
            <c:spPr>
              <a:solidFill>
                <a:srgbClr val="F7D4C4"/>
              </a:solidFill>
            </c:spPr>
          </c:dPt>
          <c:dPt>
            <c:idx val="2"/>
            <c:spPr>
              <a:solidFill>
                <a:srgbClr val="A8D8EA"/>
              </a:solidFill>
            </c:spPr>
          </c:dPt>
          <c:dPt>
            <c:idx val="3"/>
            <c:spPr>
              <a:solidFill>
                <a:srgbClr val="F9F5F2"/>
              </a:solidFill>
            </c:spPr>
          </c:dPt>
          <c:cat>
            <c:strRef>
              <c:f>Sheet1!$A$2:$A$5</c:f>
              <c:strCache>
                <c:ptCount val="4"/>
                <c:pt idx="0">
                  <c:v>塔罗咨询</c:v>
                </c:pt>
                <c:pt idx="1">
                  <c:v>占星服务</c:v>
                </c:pt>
                <c:pt idx="2">
                  <c:v>SRT疗愈</c:v>
                </c:pt>
                <c:pt idx="3">
                  <c:v>课程收入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9B8AB8"/>
              </a:gs>
              <a:gs pos="100000">
                <a:srgbClr val="F7D4C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572000"/>
            <a:ext cx="1371600" cy="1371600"/>
          </a:xfrm>
          <a:prstGeom prst="ellipse">
            <a:avLst/>
          </a:prstGeom>
          <a:solidFill>
            <a:srgbClr val="F9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python-pptx 高阶能力展示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9F5F2"/>
                </a:solidFill>
              </a:rPr>
              <a:t>融合 PPT Master 设计理念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gradFill rotWithShape="1">
            <a:gsLst>
              <a:gs pos="0">
                <a:srgbClr val="9B8AB8"/>
              </a:gs>
              <a:gs pos="100000">
                <a:srgbClr val="F7D4C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python-pptx 高阶能力全景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347472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9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3474720" cy="137160"/>
          </a:xfrm>
          <a:prstGeom prst="rect">
            <a:avLst/>
          </a:prstGeom>
          <a:gradFill rotWithShape="1">
            <a:gsLst>
              <a:gs pos="0">
                <a:srgbClr val="9B8AB8"/>
              </a:gs>
              <a:gs pos="100000">
                <a:srgbClr val="F7D4C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9B8AB8"/>
                </a:solidFill>
              </a:rPr>
              <a:t>图表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柱状/饼图/折线图</a:t>
            </a:r>
            <a:br/>
            <a:r>
              <a:t>散点图/气泡图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19" y="1188720"/>
            <a:ext cx="347472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9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19" y="1188720"/>
            <a:ext cx="3474720" cy="137160"/>
          </a:xfrm>
          <a:prstGeom prst="rect">
            <a:avLst/>
          </a:prstGeom>
          <a:gradFill rotWithShape="1">
            <a:gsLst>
              <a:gs pos="0">
                <a:srgbClr val="F7D4C4"/>
              </a:gs>
              <a:gs pos="100000">
                <a:srgbClr val="F7D4C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14630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14173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7D4C4"/>
                </a:solidFill>
              </a:rPr>
              <a:t>表格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011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合并单元格</a:t>
            </a:r>
            <a:br/>
            <a:r>
              <a:t>样式自定义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8" y="1188720"/>
            <a:ext cx="347472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9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8" y="1188720"/>
            <a:ext cx="3474720" cy="137160"/>
          </a:xfrm>
          <a:prstGeom prst="rect">
            <a:avLst/>
          </a:prstGeom>
          <a:gradFill rotWithShape="1">
            <a:gsLst>
              <a:gs pos="0">
                <a:srgbClr val="A8D8EA"/>
              </a:gs>
              <a:gs pos="100000">
                <a:srgbClr val="F7D4C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8" y="14630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8" y="14173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A8D8EA"/>
                </a:solidFill>
              </a:rPr>
              <a:t>形状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8" y="2011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182种预设形状</a:t>
            </a:r>
            <a:br/>
            <a:r>
              <a:t>渐变/图片填充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74720"/>
            <a:ext cx="347472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9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474720"/>
            <a:ext cx="3474720" cy="137160"/>
          </a:xfrm>
          <a:prstGeom prst="rect">
            <a:avLst/>
          </a:prstGeom>
          <a:gradFill rotWithShape="1">
            <a:gsLst>
              <a:gs pos="0">
                <a:srgbClr val="9B8AB8"/>
              </a:gs>
              <a:gs pos="100000">
                <a:srgbClr val="F7D4C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7490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7033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9B8AB8"/>
                </a:solidFill>
              </a:rPr>
              <a:t>文字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297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多级段落</a:t>
            </a:r>
            <a:br/>
            <a:r>
              <a:t>字体/颜色/对齐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19" y="3474720"/>
            <a:ext cx="347472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9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19" y="3474720"/>
            <a:ext cx="3474720" cy="137160"/>
          </a:xfrm>
          <a:prstGeom prst="rect">
            <a:avLst/>
          </a:prstGeom>
          <a:gradFill rotWithShape="1">
            <a:gsLst>
              <a:gs pos="0">
                <a:srgbClr val="F7D4C4"/>
              </a:gs>
              <a:gs pos="100000">
                <a:srgbClr val="F7D4C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1999" y="37490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37033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7D4C4"/>
                </a:solidFill>
              </a:rPr>
              <a:t>母版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1999" y="4297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布局复用</a:t>
            </a:r>
            <a:br/>
            <a:r>
              <a:t>风格统一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58" y="3474720"/>
            <a:ext cx="347472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9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58" y="3474720"/>
            <a:ext cx="3474720" cy="137160"/>
          </a:xfrm>
          <a:prstGeom prst="rect">
            <a:avLst/>
          </a:prstGeom>
          <a:gradFill rotWithShape="1">
            <a:gsLst>
              <a:gs pos="0">
                <a:srgbClr val="A8D8EA"/>
              </a:gs>
              <a:gs pos="100000">
                <a:srgbClr val="F7D4C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38" y="37490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🖼️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38" y="37033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A8D8EA"/>
                </a:solidFill>
              </a:rPr>
              <a:t>图片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38" y="4297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位置/尺寸/裁剪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gradFill rotWithShape="1">
            <a:gsLst>
              <a:gs pos="0">
                <a:srgbClr val="9B8AB8"/>
              </a:gs>
              <a:gs pos="100000">
                <a:srgbClr val="F7D4C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📊 图表能力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0" y="1097280"/>
          <a:ext cx="50292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支持：柱状图、堆叠图、饼图、折线图、散点图、气泡图 - 所有图表皆可编辑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gradFill rotWithShape="1">
            <a:gsLst>
              <a:gs pos="0">
                <a:srgbClr val="9B8AB8"/>
              </a:gs>
              <a:gs pos="100000">
                <a:srgbClr val="F7D4C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📋 表格能力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日期</a:t>
                      </a:r>
                    </a:p>
                  </a:txBody>
                  <a:tcPr>
                    <a:solidFill>
                      <a:srgbClr val="9B8A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来访者类型</a:t>
                      </a:r>
                    </a:p>
                  </a:txBody>
                  <a:tcPr>
                    <a:solidFill>
                      <a:srgbClr val="9B8A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咨询内容</a:t>
                      </a:r>
                    </a:p>
                  </a:txBody>
                  <a:tcPr>
                    <a:solidFill>
                      <a:srgbClr val="9B8A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时长</a:t>
                      </a:r>
                    </a:p>
                  </a:txBody>
                  <a:tcPr>
                    <a:solidFill>
                      <a:srgbClr val="9B8A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满意度</a:t>
                      </a:r>
                    </a:p>
                  </a:txBody>
                  <a:tcPr>
                    <a:solidFill>
                      <a:srgbClr val="9B8AB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4月15日</a:t>
                      </a:r>
                    </a:p>
                  </a:txBody>
                  <a:tcPr>
                    <a:solidFill>
                      <a:srgbClr val="F9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情感内耗</a:t>
                      </a:r>
                    </a:p>
                  </a:txBody>
                  <a:tcPr>
                    <a:solidFill>
                      <a:srgbClr val="F9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分手复合</a:t>
                      </a:r>
                    </a:p>
                  </a:txBody>
                  <a:tcPr>
                    <a:solidFill>
                      <a:srgbClr val="F9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60分钟</a:t>
                      </a:r>
                    </a:p>
                  </a:txBody>
                  <a:tcPr>
                    <a:solidFill>
                      <a:srgbClr val="F9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⭐⭐⭐⭐⭐</a:t>
                      </a:r>
                    </a:p>
                  </a:txBody>
                  <a:tcPr>
                    <a:solidFill>
                      <a:srgbClr val="F9F5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4月16日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人生迷茫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职业规划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90分钟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⭐⭐⭐⭐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4月17日</a:t>
                      </a:r>
                    </a:p>
                  </a:txBody>
                  <a:tcPr>
                    <a:solidFill>
                      <a:srgbClr val="F9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遇渣男</a:t>
                      </a:r>
                    </a:p>
                  </a:txBody>
                  <a:tcPr>
                    <a:solidFill>
                      <a:srgbClr val="F9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识别渣男</a:t>
                      </a:r>
                    </a:p>
                  </a:txBody>
                  <a:tcPr>
                    <a:solidFill>
                      <a:srgbClr val="F9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45分钟</a:t>
                      </a:r>
                    </a:p>
                  </a:txBody>
                  <a:tcPr>
                    <a:solidFill>
                      <a:srgbClr val="F9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⭐⭐⭐⭐⭐</a:t>
                      </a:r>
                    </a:p>
                  </a:txBody>
                  <a:tcPr>
                    <a:solidFill>
                      <a:srgbClr val="F9F5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4月18日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自我成长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欧卡疗愈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60分钟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  <a:latin typeface="微软雅黑"/>
                        </a:rPr>
                        <a:t>⭐⭐⭐⭐⭐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支持：合并单元格、单元格背景色、边框样式、行列操作、垂直对齐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gradFill rotWithShape="1">
            <a:gsLst>
              <a:gs pos="0">
                <a:srgbClr val="9B8AB8"/>
              </a:gs>
              <a:gs pos="100000">
                <a:srgbClr val="F7D4C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🎨 形状与渐变填充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743200" cy="1828800"/>
          </a:xfrm>
          <a:prstGeom prst="rect">
            <a:avLst/>
          </a:prstGeom>
          <a:gradFill rotWithShape="1">
            <a:gsLst>
              <a:gs pos="0">
                <a:srgbClr val="9B8AB8"/>
              </a:gs>
              <a:gs pos="100000">
                <a:srgbClr val="F7D4C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线性渐变 0°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097280"/>
            <a:ext cx="2743200" cy="1828800"/>
          </a:xfrm>
          <a:prstGeom prst="rect">
            <a:avLst/>
          </a:prstGeom>
          <a:gradFill rotWithShape="1">
            <a:gsLst>
              <a:gs pos="0">
                <a:srgbClr val="9B8AB8"/>
              </a:gs>
              <a:gs pos="100000">
                <a:srgbClr val="F7D4C4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31089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线性渐变 45°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097280"/>
            <a:ext cx="2743200" cy="1828800"/>
          </a:xfrm>
          <a:prstGeom prst="rect">
            <a:avLst/>
          </a:prstGeom>
          <a:gradFill rotWithShape="1">
            <a:gsLst>
              <a:gs pos="0">
                <a:srgbClr val="9B8AB8"/>
              </a:gs>
              <a:gs pos="100000">
                <a:srgbClr val="F7D4C4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31089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线性渐变 90°</a:t>
            </a:r>
          </a:p>
        </p:txBody>
      </p:sp>
      <p:sp>
        <p:nvSpPr>
          <p:cNvPr id="10" name="Pentagon 9"/>
          <p:cNvSpPr/>
          <p:nvPr/>
        </p:nvSpPr>
        <p:spPr>
          <a:xfrm>
            <a:off x="457200" y="3931920"/>
            <a:ext cx="1371600" cy="1371600"/>
          </a:xfrm>
          <a:prstGeom prst="homePlate">
            <a:avLst/>
          </a:prstGeom>
          <a:solidFill>
            <a:srgbClr val="9B8AB8"/>
          </a:solidFill>
          <a:ln w="25400">
            <a:solidFill>
              <a:srgbClr val="F7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3949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五边形</a:t>
            </a:r>
          </a:p>
        </p:txBody>
      </p:sp>
      <p:sp>
        <p:nvSpPr>
          <p:cNvPr id="12" name="Chevron 11"/>
          <p:cNvSpPr/>
          <p:nvPr/>
        </p:nvSpPr>
        <p:spPr>
          <a:xfrm>
            <a:off x="2377440" y="3931920"/>
            <a:ext cx="1371600" cy="1371600"/>
          </a:xfrm>
          <a:prstGeom prst="chevron">
            <a:avLst/>
          </a:prstGeom>
          <a:solidFill>
            <a:srgbClr val="9B8AB8"/>
          </a:solidFill>
          <a:ln w="25400">
            <a:solidFill>
              <a:srgbClr val="F7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53949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V形</a:t>
            </a:r>
          </a:p>
        </p:txBody>
      </p:sp>
      <p:sp>
        <p:nvSpPr>
          <p:cNvPr id="14" name="Cross 13"/>
          <p:cNvSpPr/>
          <p:nvPr/>
        </p:nvSpPr>
        <p:spPr>
          <a:xfrm>
            <a:off x="4297680" y="3931920"/>
            <a:ext cx="1371600" cy="1371600"/>
          </a:xfrm>
          <a:prstGeom prst="plus">
            <a:avLst/>
          </a:prstGeom>
          <a:solidFill>
            <a:srgbClr val="9B8AB8"/>
          </a:solidFill>
          <a:ln w="25400">
            <a:solidFill>
              <a:srgbClr val="F7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53949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十字形</a:t>
            </a:r>
          </a:p>
        </p:txBody>
      </p:sp>
      <p:sp>
        <p:nvSpPr>
          <p:cNvPr id="16" name="4-Point Star 15"/>
          <p:cNvSpPr/>
          <p:nvPr/>
        </p:nvSpPr>
        <p:spPr>
          <a:xfrm>
            <a:off x="6217920" y="3931920"/>
            <a:ext cx="1371600" cy="1371600"/>
          </a:xfrm>
          <a:prstGeom prst="star4">
            <a:avLst/>
          </a:prstGeom>
          <a:solidFill>
            <a:srgbClr val="9B8AB8"/>
          </a:solidFill>
          <a:ln w="25400">
            <a:solidFill>
              <a:srgbClr val="F7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53949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四角星</a:t>
            </a:r>
          </a:p>
        </p:txBody>
      </p:sp>
      <p:sp>
        <p:nvSpPr>
          <p:cNvPr id="18" name="Heart 17"/>
          <p:cNvSpPr/>
          <p:nvPr/>
        </p:nvSpPr>
        <p:spPr>
          <a:xfrm>
            <a:off x="8138160" y="3931920"/>
            <a:ext cx="1371600" cy="1371600"/>
          </a:xfrm>
          <a:prstGeom prst="heart">
            <a:avLst/>
          </a:prstGeom>
          <a:solidFill>
            <a:srgbClr val="9B8AB8"/>
          </a:solidFill>
          <a:ln w="25400">
            <a:solidFill>
              <a:srgbClr val="F7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53949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心形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0" y="3931920"/>
            <a:ext cx="1371600" cy="1371600"/>
          </a:xfrm>
          <a:prstGeom prst="roundRect">
            <a:avLst/>
          </a:prstGeom>
          <a:solidFill>
            <a:srgbClr val="9B8AB8"/>
          </a:solidFill>
          <a:ln w="25400">
            <a:solidFill>
              <a:srgbClr val="F7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53949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圆角矩形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gradFill rotWithShape="1">
            <a:gsLst>
              <a:gs pos="0">
                <a:srgbClr val="9B8AB8"/>
              </a:gs>
              <a:gs pos="100000">
                <a:srgbClr val="F7D4C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🎨 配色方案（PPT Master 设计理念）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8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731520" cy="1371600"/>
          </a:xfrm>
          <a:prstGeom prst="roundRect">
            <a:avLst>
              <a:gd name="adj" fmla="val 2000"/>
            </a:avLst>
          </a:prstGeom>
          <a:solidFill>
            <a:srgbClr val="1A37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63040" y="1371600"/>
            <a:ext cx="731520" cy="1371600"/>
          </a:xfrm>
          <a:prstGeom prst="roundRect">
            <a:avLst>
              <a:gd name="adj" fmla="val 2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0" y="1371600"/>
            <a:ext cx="731520" cy="1371600"/>
          </a:xfrm>
          <a:prstGeom prst="roundRect">
            <a:avLst>
              <a:gd name="adj" fmla="val 2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08960" y="1371600"/>
            <a:ext cx="731520" cy="1371600"/>
          </a:xfrm>
          <a:prstGeom prst="roundRect">
            <a:avLst>
              <a:gd name="adj" fmla="val 2000"/>
            </a:avLst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3762"/>
                </a:solidFill>
              </a:rPr>
              <a:t>商务风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C3E50"/>
                </a:solidFill>
              </a:rPr>
              <a:t>藏蓝+金色，适合正式场合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097280"/>
            <a:ext cx="36576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FF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1371600"/>
            <a:ext cx="731520" cy="1371600"/>
          </a:xfrm>
          <a:prstGeom prst="roundRect">
            <a:avLst>
              <a:gd name="adj" fmla="val 2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94960" y="1371600"/>
            <a:ext cx="731520" cy="1371600"/>
          </a:xfrm>
          <a:prstGeom prst="roundRect">
            <a:avLst>
              <a:gd name="adj" fmla="val 2000"/>
            </a:avLst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731520" cy="1371600"/>
          </a:xfrm>
          <a:prstGeom prst="roundRect">
            <a:avLst>
              <a:gd name="adj" fmla="val 2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040880" y="1371600"/>
            <a:ext cx="731520" cy="1371600"/>
          </a:xfrm>
          <a:prstGeom prst="roundRect">
            <a:avLst>
              <a:gd name="adj" fmla="val 2000"/>
            </a:avLst>
          </a:prstGeom>
          <a:solidFill>
            <a:srgbClr val="FF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9260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6B6B"/>
                </a:solidFill>
              </a:rPr>
              <a:t>活泼风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4747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D3436"/>
                </a:solidFill>
              </a:rPr>
              <a:t>珊瑚粉+活力橙，适合女性用户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097280"/>
            <a:ext cx="36576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F9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03920" y="1371600"/>
            <a:ext cx="731520" cy="1371600"/>
          </a:xfrm>
          <a:prstGeom prst="roundRect">
            <a:avLst>
              <a:gd name="adj" fmla="val 2000"/>
            </a:avLst>
          </a:prstGeom>
          <a:solidFill>
            <a:srgbClr val="9B8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26880" y="1371600"/>
            <a:ext cx="731520" cy="1371600"/>
          </a:xfrm>
          <a:prstGeom prst="roundRect">
            <a:avLst>
              <a:gd name="adj" fmla="val 2000"/>
            </a:avLst>
          </a:prstGeom>
          <a:solidFill>
            <a:srgbClr val="F7D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149840" y="1371600"/>
            <a:ext cx="731520" cy="1371600"/>
          </a:xfrm>
          <a:prstGeom prst="roundRect">
            <a:avLst>
              <a:gd name="adj" fmla="val 2000"/>
            </a:avLst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972800" y="1371600"/>
            <a:ext cx="731520" cy="1371600"/>
          </a:xfrm>
          <a:prstGeom prst="roundRect">
            <a:avLst>
              <a:gd name="adj" fmla="val 2000"/>
            </a:avLst>
          </a:prstGeom>
          <a:solidFill>
            <a:srgbClr val="F9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29260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9B8AB8"/>
                </a:solidFill>
              </a:rPr>
              <a:t>疗愈风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4747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薰衣草紫+薄荷绿，适合心理疗愈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9B8AB8"/>
              </a:gs>
              <a:gs pos="100000">
                <a:srgbClr val="F7D4C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914400"/>
            <a:ext cx="1371600" cy="1371600"/>
          </a:xfrm>
          <a:prstGeom prst="ellipse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1828800" cy="1828800"/>
          </a:xfrm>
          <a:prstGeom prst="ellipse">
            <a:avLst/>
          </a:prstGeom>
          <a:solidFill>
            <a:srgbClr val="F7D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python-pptx 高阶能力 × PPT Master 设计理念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9F5F2"/>
                </a:solidFill>
              </a:rPr>
              <a:t>图表 | 表格 | 形状 | 渐变 | 配色方案 | 母版布局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